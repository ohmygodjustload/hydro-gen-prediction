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4"/>
  </p:sldMasterIdLst>
  <p:notesMasterIdLst>
    <p:notesMasterId r:id="rId13"/>
  </p:notesMasterIdLst>
  <p:sldIdLst>
    <p:sldId id="256" r:id="rId5"/>
    <p:sldId id="257" r:id="rId6"/>
    <p:sldId id="268" r:id="rId7"/>
    <p:sldId id="260" r:id="rId8"/>
    <p:sldId id="264" r:id="rId9"/>
    <p:sldId id="270" r:id="rId10"/>
    <p:sldId id="265" r:id="rId11"/>
    <p:sldId id="26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2D569D-028A-4F2E-A2C7-88921EC9F5BC}" v="563" dt="2025-11-12T07:02:15.9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3" d="100"/>
          <a:sy n="73" d="100"/>
        </p:scale>
        <p:origin x="1070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C30EAD-E6D6-4CFE-AE31-8FE6CF5EC80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1516D09-8471-4FD8-97B8-C4CA9DD9EAAC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Clean Raw Data</a:t>
          </a:r>
        </a:p>
      </dgm:t>
    </dgm:pt>
    <dgm:pt modelId="{8902A0DE-0213-4026-9218-27ABB22B43F6}" type="parTrans" cxnId="{E3260BDD-35CB-4AD2-8E01-4C4519DB7CAA}">
      <dgm:prSet/>
      <dgm:spPr/>
      <dgm:t>
        <a:bodyPr/>
        <a:lstStyle/>
        <a:p>
          <a:endParaRPr lang="en-US"/>
        </a:p>
      </dgm:t>
    </dgm:pt>
    <dgm:pt modelId="{7898B675-529E-4ED8-B474-5405F5F70B4F}" type="sibTrans" cxnId="{E3260BDD-35CB-4AD2-8E01-4C4519DB7CAA}">
      <dgm:prSet/>
      <dgm:spPr/>
      <dgm:t>
        <a:bodyPr/>
        <a:lstStyle/>
        <a:p>
          <a:endParaRPr lang="en-US"/>
        </a:p>
      </dgm:t>
    </dgm:pt>
    <dgm:pt modelId="{4DC7B722-DE59-4597-B001-B78611D5B77E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Train Machine Learning Model</a:t>
          </a:r>
        </a:p>
      </dgm:t>
    </dgm:pt>
    <dgm:pt modelId="{30E3B8CD-D25B-4715-80CD-BC96ABFC3213}" type="parTrans" cxnId="{6761758A-07E0-47EB-BC49-CEEFFC2F1361}">
      <dgm:prSet/>
      <dgm:spPr/>
      <dgm:t>
        <a:bodyPr/>
        <a:lstStyle/>
        <a:p>
          <a:endParaRPr lang="en-US"/>
        </a:p>
      </dgm:t>
    </dgm:pt>
    <dgm:pt modelId="{065287AA-C63C-4445-BF94-D8E8AF8534BB}" type="sibTrans" cxnId="{6761758A-07E0-47EB-BC49-CEEFFC2F1361}">
      <dgm:prSet/>
      <dgm:spPr/>
      <dgm:t>
        <a:bodyPr/>
        <a:lstStyle/>
        <a:p>
          <a:endParaRPr lang="en-US"/>
        </a:p>
      </dgm:t>
    </dgm:pt>
    <dgm:pt modelId="{3A57D3EA-EC53-4334-BF14-0532EF4C42B9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Linear Regression + Random Forest Models</a:t>
          </a:r>
        </a:p>
      </dgm:t>
    </dgm:pt>
    <dgm:pt modelId="{8561FF1D-2406-43E2-9465-561008BA566B}" type="parTrans" cxnId="{4BABAF97-A1F3-4DE4-BD8E-998B0A4B3B27}">
      <dgm:prSet/>
      <dgm:spPr/>
      <dgm:t>
        <a:bodyPr/>
        <a:lstStyle/>
        <a:p>
          <a:endParaRPr lang="en-US"/>
        </a:p>
      </dgm:t>
    </dgm:pt>
    <dgm:pt modelId="{020EF93F-C57C-44A7-A9B4-5911E91627A2}" type="sibTrans" cxnId="{4BABAF97-A1F3-4DE4-BD8E-998B0A4B3B27}">
      <dgm:prSet/>
      <dgm:spPr/>
      <dgm:t>
        <a:bodyPr/>
        <a:lstStyle/>
        <a:p>
          <a:endParaRPr lang="en-US"/>
        </a:p>
      </dgm:t>
    </dgm:pt>
    <dgm:pt modelId="{22E73426-9BCC-42E2-B744-8E5F628DE323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Evaluate Performance Metrics</a:t>
          </a:r>
        </a:p>
      </dgm:t>
    </dgm:pt>
    <dgm:pt modelId="{F441FC70-5174-40A3-BE5B-C8E778223F46}" type="parTrans" cxnId="{E348B398-6FC8-43B4-B62C-92E1514467DF}">
      <dgm:prSet/>
      <dgm:spPr/>
      <dgm:t>
        <a:bodyPr/>
        <a:lstStyle/>
        <a:p>
          <a:endParaRPr lang="en-US"/>
        </a:p>
      </dgm:t>
    </dgm:pt>
    <dgm:pt modelId="{BB4D14F8-9AC1-4F69-A318-1355C571F409}" type="sibTrans" cxnId="{E348B398-6FC8-43B4-B62C-92E1514467DF}">
      <dgm:prSet/>
      <dgm:spPr/>
      <dgm:t>
        <a:bodyPr/>
        <a:lstStyle/>
        <a:p>
          <a:endParaRPr lang="en-US"/>
        </a:p>
      </dgm:t>
    </dgm:pt>
    <dgm:pt modelId="{835B4B8E-6C74-448E-B34A-758F4C82D1B6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Predict Energy Generation for 10/24-30</a:t>
          </a:r>
        </a:p>
      </dgm:t>
    </dgm:pt>
    <dgm:pt modelId="{E649B44E-913C-4F6D-9049-C96A95DE721E}" type="parTrans" cxnId="{C6760E23-B6D2-498E-8930-38022362A751}">
      <dgm:prSet/>
      <dgm:spPr/>
      <dgm:t>
        <a:bodyPr/>
        <a:lstStyle/>
        <a:p>
          <a:endParaRPr lang="en-US"/>
        </a:p>
      </dgm:t>
    </dgm:pt>
    <dgm:pt modelId="{25595905-1D0C-4A87-8893-EB12691B7C7C}" type="sibTrans" cxnId="{C6760E23-B6D2-498E-8930-38022362A751}">
      <dgm:prSet/>
      <dgm:spPr/>
      <dgm:t>
        <a:bodyPr/>
        <a:lstStyle/>
        <a:p>
          <a:endParaRPr lang="en-US"/>
        </a:p>
      </dgm:t>
    </dgm:pt>
    <dgm:pt modelId="{03AA1240-1746-42FE-A12B-BD51246F4AF9}" type="pres">
      <dgm:prSet presAssocID="{65C30EAD-E6D6-4CFE-AE31-8FE6CF5EC805}" presName="root" presStyleCnt="0">
        <dgm:presLayoutVars>
          <dgm:dir/>
          <dgm:resizeHandles val="exact"/>
        </dgm:presLayoutVars>
      </dgm:prSet>
      <dgm:spPr/>
    </dgm:pt>
    <dgm:pt modelId="{EA27F146-7EF7-438D-9CAF-CC8E0B6FCC0F}" type="pres">
      <dgm:prSet presAssocID="{61516D09-8471-4FD8-97B8-C4CA9DD9EAAC}" presName="compNode" presStyleCnt="0"/>
      <dgm:spPr/>
    </dgm:pt>
    <dgm:pt modelId="{A7344BDB-D1A6-492B-BD03-E0EAF2BBAE98}" type="pres">
      <dgm:prSet presAssocID="{61516D09-8471-4FD8-97B8-C4CA9DD9EAAC}" presName="bgRect" presStyleLbl="bgShp" presStyleIdx="0" presStyleCnt="5" custLinFactNeighborX="-2358" custLinFactNeighborY="-12104"/>
      <dgm:spPr/>
    </dgm:pt>
    <dgm:pt modelId="{870A9834-D032-499D-9F0D-BCBC728A0483}" type="pres">
      <dgm:prSet presAssocID="{61516D09-8471-4FD8-97B8-C4CA9DD9EAA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9ACAAC3-AA64-4100-8B0E-074ED560133E}" type="pres">
      <dgm:prSet presAssocID="{61516D09-8471-4FD8-97B8-C4CA9DD9EAAC}" presName="spaceRect" presStyleCnt="0"/>
      <dgm:spPr/>
    </dgm:pt>
    <dgm:pt modelId="{81915DA5-E6CD-4BA5-A33B-8F30D2BDF06F}" type="pres">
      <dgm:prSet presAssocID="{61516D09-8471-4FD8-97B8-C4CA9DD9EAAC}" presName="parTx" presStyleLbl="revTx" presStyleIdx="0" presStyleCnt="5">
        <dgm:presLayoutVars>
          <dgm:chMax val="0"/>
          <dgm:chPref val="0"/>
        </dgm:presLayoutVars>
      </dgm:prSet>
      <dgm:spPr/>
    </dgm:pt>
    <dgm:pt modelId="{395AB0E4-6F3E-4CD4-B517-E7271AF2C672}" type="pres">
      <dgm:prSet presAssocID="{7898B675-529E-4ED8-B474-5405F5F70B4F}" presName="sibTrans" presStyleCnt="0"/>
      <dgm:spPr/>
    </dgm:pt>
    <dgm:pt modelId="{B6C046E3-B294-41F3-8BDB-79810E0E7794}" type="pres">
      <dgm:prSet presAssocID="{4DC7B722-DE59-4597-B001-B78611D5B77E}" presName="compNode" presStyleCnt="0"/>
      <dgm:spPr/>
    </dgm:pt>
    <dgm:pt modelId="{1C31A5B5-4B8C-41D1-B9E6-0DB80F5C05DA}" type="pres">
      <dgm:prSet presAssocID="{4DC7B722-DE59-4597-B001-B78611D5B77E}" presName="bgRect" presStyleLbl="bgShp" presStyleIdx="1" presStyleCnt="5"/>
      <dgm:spPr/>
    </dgm:pt>
    <dgm:pt modelId="{83BD66F4-0194-4D37-B98F-FAA2CF32AF7F}" type="pres">
      <dgm:prSet presAssocID="{4DC7B722-DE59-4597-B001-B78611D5B77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4443A3CD-4117-4285-A167-BB044B9E1769}" type="pres">
      <dgm:prSet presAssocID="{4DC7B722-DE59-4597-B001-B78611D5B77E}" presName="spaceRect" presStyleCnt="0"/>
      <dgm:spPr/>
    </dgm:pt>
    <dgm:pt modelId="{6D4E6275-33B8-4703-B611-DA5ACF4E589B}" type="pres">
      <dgm:prSet presAssocID="{4DC7B722-DE59-4597-B001-B78611D5B77E}" presName="parTx" presStyleLbl="revTx" presStyleIdx="1" presStyleCnt="5">
        <dgm:presLayoutVars>
          <dgm:chMax val="0"/>
          <dgm:chPref val="0"/>
        </dgm:presLayoutVars>
      </dgm:prSet>
      <dgm:spPr/>
    </dgm:pt>
    <dgm:pt modelId="{D97BEF56-51BA-4C6E-9445-B58B65BD89B4}" type="pres">
      <dgm:prSet presAssocID="{065287AA-C63C-4445-BF94-D8E8AF8534BB}" presName="sibTrans" presStyleCnt="0"/>
      <dgm:spPr/>
    </dgm:pt>
    <dgm:pt modelId="{673DF865-84C6-49DF-B476-D4C29CF010D4}" type="pres">
      <dgm:prSet presAssocID="{3A57D3EA-EC53-4334-BF14-0532EF4C42B9}" presName="compNode" presStyleCnt="0"/>
      <dgm:spPr/>
    </dgm:pt>
    <dgm:pt modelId="{2DDEC279-F085-4B0A-BE1E-A7EE54B6B617}" type="pres">
      <dgm:prSet presAssocID="{3A57D3EA-EC53-4334-BF14-0532EF4C42B9}" presName="bgRect" presStyleLbl="bgShp" presStyleIdx="2" presStyleCnt="5"/>
      <dgm:spPr/>
    </dgm:pt>
    <dgm:pt modelId="{FE6162AB-0C7C-4457-82FC-5D5DCBEAC37C}" type="pres">
      <dgm:prSet presAssocID="{3A57D3EA-EC53-4334-BF14-0532EF4C42B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tterplot with solid fill"/>
        </a:ext>
      </dgm:extLst>
    </dgm:pt>
    <dgm:pt modelId="{BC1E33D6-04DA-4165-8B9D-B248CAC6F731}" type="pres">
      <dgm:prSet presAssocID="{3A57D3EA-EC53-4334-BF14-0532EF4C42B9}" presName="spaceRect" presStyleCnt="0"/>
      <dgm:spPr/>
    </dgm:pt>
    <dgm:pt modelId="{8DB74EBD-3277-4E25-8455-0065EE650159}" type="pres">
      <dgm:prSet presAssocID="{3A57D3EA-EC53-4334-BF14-0532EF4C42B9}" presName="parTx" presStyleLbl="revTx" presStyleIdx="2" presStyleCnt="5">
        <dgm:presLayoutVars>
          <dgm:chMax val="0"/>
          <dgm:chPref val="0"/>
        </dgm:presLayoutVars>
      </dgm:prSet>
      <dgm:spPr/>
    </dgm:pt>
    <dgm:pt modelId="{33D54D72-BB7B-4520-83F9-4DB7DA74BFA1}" type="pres">
      <dgm:prSet presAssocID="{020EF93F-C57C-44A7-A9B4-5911E91627A2}" presName="sibTrans" presStyleCnt="0"/>
      <dgm:spPr/>
    </dgm:pt>
    <dgm:pt modelId="{7C1B013C-50BD-4E7C-B541-B510431278C5}" type="pres">
      <dgm:prSet presAssocID="{22E73426-9BCC-42E2-B744-8E5F628DE323}" presName="compNode" presStyleCnt="0"/>
      <dgm:spPr/>
    </dgm:pt>
    <dgm:pt modelId="{AB62C7EC-ED7B-4C0C-A897-9BE1F069FC9E}" type="pres">
      <dgm:prSet presAssocID="{22E73426-9BCC-42E2-B744-8E5F628DE323}" presName="bgRect" presStyleLbl="bgShp" presStyleIdx="3" presStyleCnt="5"/>
      <dgm:spPr/>
    </dgm:pt>
    <dgm:pt modelId="{9F77E45F-75A8-493D-B7C9-335F82D93C7A}" type="pres">
      <dgm:prSet presAssocID="{22E73426-9BCC-42E2-B744-8E5F628DE32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941D51FC-D166-4313-BB18-38CF9F49F523}" type="pres">
      <dgm:prSet presAssocID="{22E73426-9BCC-42E2-B744-8E5F628DE323}" presName="spaceRect" presStyleCnt="0"/>
      <dgm:spPr/>
    </dgm:pt>
    <dgm:pt modelId="{0D5AE181-56FE-4980-A5D2-F9AFE497548C}" type="pres">
      <dgm:prSet presAssocID="{22E73426-9BCC-42E2-B744-8E5F628DE323}" presName="parTx" presStyleLbl="revTx" presStyleIdx="3" presStyleCnt="5">
        <dgm:presLayoutVars>
          <dgm:chMax val="0"/>
          <dgm:chPref val="0"/>
        </dgm:presLayoutVars>
      </dgm:prSet>
      <dgm:spPr/>
    </dgm:pt>
    <dgm:pt modelId="{A38E8963-5D85-4AB8-9A19-16FEDC674D34}" type="pres">
      <dgm:prSet presAssocID="{BB4D14F8-9AC1-4F69-A318-1355C571F409}" presName="sibTrans" presStyleCnt="0"/>
      <dgm:spPr/>
    </dgm:pt>
    <dgm:pt modelId="{707AF197-41BC-4513-A3CF-AE6EAEA24FBB}" type="pres">
      <dgm:prSet presAssocID="{835B4B8E-6C74-448E-B34A-758F4C82D1B6}" presName="compNode" presStyleCnt="0"/>
      <dgm:spPr/>
    </dgm:pt>
    <dgm:pt modelId="{1623B093-11D6-4CBB-A910-584B180E75E4}" type="pres">
      <dgm:prSet presAssocID="{835B4B8E-6C74-448E-B34A-758F4C82D1B6}" presName="bgRect" presStyleLbl="bgShp" presStyleIdx="4" presStyleCnt="5"/>
      <dgm:spPr/>
    </dgm:pt>
    <dgm:pt modelId="{003E4437-6D61-4875-923E-A3CCECB8EEEE}" type="pres">
      <dgm:prSet presAssocID="{835B4B8E-6C74-448E-B34A-758F4C82D1B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79757D1-0172-413D-9019-BBC3DCF9BD7D}" type="pres">
      <dgm:prSet presAssocID="{835B4B8E-6C74-448E-B34A-758F4C82D1B6}" presName="spaceRect" presStyleCnt="0"/>
      <dgm:spPr/>
    </dgm:pt>
    <dgm:pt modelId="{D2C49F4B-D79A-4AA5-B1EB-B501FC514ECA}" type="pres">
      <dgm:prSet presAssocID="{835B4B8E-6C74-448E-B34A-758F4C82D1B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BFED008-E2CE-4CBA-88BC-51B2710EE0C6}" type="presOf" srcId="{3A57D3EA-EC53-4334-BF14-0532EF4C42B9}" destId="{8DB74EBD-3277-4E25-8455-0065EE650159}" srcOrd="0" destOrd="0" presId="urn:microsoft.com/office/officeart/2018/2/layout/IconVerticalSolidList"/>
    <dgm:cxn modelId="{C6760E23-B6D2-498E-8930-38022362A751}" srcId="{65C30EAD-E6D6-4CFE-AE31-8FE6CF5EC805}" destId="{835B4B8E-6C74-448E-B34A-758F4C82D1B6}" srcOrd="4" destOrd="0" parTransId="{E649B44E-913C-4F6D-9049-C96A95DE721E}" sibTransId="{25595905-1D0C-4A87-8893-EB12691B7C7C}"/>
    <dgm:cxn modelId="{FA9E224E-8A60-4A54-A535-8235080AC0B7}" type="presOf" srcId="{835B4B8E-6C74-448E-B34A-758F4C82D1B6}" destId="{D2C49F4B-D79A-4AA5-B1EB-B501FC514ECA}" srcOrd="0" destOrd="0" presId="urn:microsoft.com/office/officeart/2018/2/layout/IconVerticalSolidList"/>
    <dgm:cxn modelId="{0AB7CB85-6D1B-4C40-8E66-6920232D086A}" type="presOf" srcId="{4DC7B722-DE59-4597-B001-B78611D5B77E}" destId="{6D4E6275-33B8-4703-B611-DA5ACF4E589B}" srcOrd="0" destOrd="0" presId="urn:microsoft.com/office/officeart/2018/2/layout/IconVerticalSolidList"/>
    <dgm:cxn modelId="{6761758A-07E0-47EB-BC49-CEEFFC2F1361}" srcId="{65C30EAD-E6D6-4CFE-AE31-8FE6CF5EC805}" destId="{4DC7B722-DE59-4597-B001-B78611D5B77E}" srcOrd="1" destOrd="0" parTransId="{30E3B8CD-D25B-4715-80CD-BC96ABFC3213}" sibTransId="{065287AA-C63C-4445-BF94-D8E8AF8534BB}"/>
    <dgm:cxn modelId="{4BABAF97-A1F3-4DE4-BD8E-998B0A4B3B27}" srcId="{65C30EAD-E6D6-4CFE-AE31-8FE6CF5EC805}" destId="{3A57D3EA-EC53-4334-BF14-0532EF4C42B9}" srcOrd="2" destOrd="0" parTransId="{8561FF1D-2406-43E2-9465-561008BA566B}" sibTransId="{020EF93F-C57C-44A7-A9B4-5911E91627A2}"/>
    <dgm:cxn modelId="{E348B398-6FC8-43B4-B62C-92E1514467DF}" srcId="{65C30EAD-E6D6-4CFE-AE31-8FE6CF5EC805}" destId="{22E73426-9BCC-42E2-B744-8E5F628DE323}" srcOrd="3" destOrd="0" parTransId="{F441FC70-5174-40A3-BE5B-C8E778223F46}" sibTransId="{BB4D14F8-9AC1-4F69-A318-1355C571F409}"/>
    <dgm:cxn modelId="{4648FBB8-834B-477A-91B2-7E69A801B961}" type="presOf" srcId="{65C30EAD-E6D6-4CFE-AE31-8FE6CF5EC805}" destId="{03AA1240-1746-42FE-A12B-BD51246F4AF9}" srcOrd="0" destOrd="0" presId="urn:microsoft.com/office/officeart/2018/2/layout/IconVerticalSolidList"/>
    <dgm:cxn modelId="{E1DF3ABC-5F55-4320-871A-A0C6CF107893}" type="presOf" srcId="{61516D09-8471-4FD8-97B8-C4CA9DD9EAAC}" destId="{81915DA5-E6CD-4BA5-A33B-8F30D2BDF06F}" srcOrd="0" destOrd="0" presId="urn:microsoft.com/office/officeart/2018/2/layout/IconVerticalSolidList"/>
    <dgm:cxn modelId="{E3260BDD-35CB-4AD2-8E01-4C4519DB7CAA}" srcId="{65C30EAD-E6D6-4CFE-AE31-8FE6CF5EC805}" destId="{61516D09-8471-4FD8-97B8-C4CA9DD9EAAC}" srcOrd="0" destOrd="0" parTransId="{8902A0DE-0213-4026-9218-27ABB22B43F6}" sibTransId="{7898B675-529E-4ED8-B474-5405F5F70B4F}"/>
    <dgm:cxn modelId="{A2D921FB-9001-4DF0-9CE9-599DF586D958}" type="presOf" srcId="{22E73426-9BCC-42E2-B744-8E5F628DE323}" destId="{0D5AE181-56FE-4980-A5D2-F9AFE497548C}" srcOrd="0" destOrd="0" presId="urn:microsoft.com/office/officeart/2018/2/layout/IconVerticalSolidList"/>
    <dgm:cxn modelId="{6AEA4C45-2EA4-4D4F-9CEE-899486D7AF8D}" type="presParOf" srcId="{03AA1240-1746-42FE-A12B-BD51246F4AF9}" destId="{EA27F146-7EF7-438D-9CAF-CC8E0B6FCC0F}" srcOrd="0" destOrd="0" presId="urn:microsoft.com/office/officeart/2018/2/layout/IconVerticalSolidList"/>
    <dgm:cxn modelId="{6D87BF07-7A85-452F-B536-E8C8E56EC186}" type="presParOf" srcId="{EA27F146-7EF7-438D-9CAF-CC8E0B6FCC0F}" destId="{A7344BDB-D1A6-492B-BD03-E0EAF2BBAE98}" srcOrd="0" destOrd="0" presId="urn:microsoft.com/office/officeart/2018/2/layout/IconVerticalSolidList"/>
    <dgm:cxn modelId="{01D8A854-589C-4554-86B0-574392A52363}" type="presParOf" srcId="{EA27F146-7EF7-438D-9CAF-CC8E0B6FCC0F}" destId="{870A9834-D032-499D-9F0D-BCBC728A0483}" srcOrd="1" destOrd="0" presId="urn:microsoft.com/office/officeart/2018/2/layout/IconVerticalSolidList"/>
    <dgm:cxn modelId="{D4F02495-A880-4090-9619-66321D08B29E}" type="presParOf" srcId="{EA27F146-7EF7-438D-9CAF-CC8E0B6FCC0F}" destId="{69ACAAC3-AA64-4100-8B0E-074ED560133E}" srcOrd="2" destOrd="0" presId="urn:microsoft.com/office/officeart/2018/2/layout/IconVerticalSolidList"/>
    <dgm:cxn modelId="{702ABAD4-5901-4FD7-8A11-68F973CA5AAB}" type="presParOf" srcId="{EA27F146-7EF7-438D-9CAF-CC8E0B6FCC0F}" destId="{81915DA5-E6CD-4BA5-A33B-8F30D2BDF06F}" srcOrd="3" destOrd="0" presId="urn:microsoft.com/office/officeart/2018/2/layout/IconVerticalSolidList"/>
    <dgm:cxn modelId="{AFDC3D6F-37D1-4436-AE0E-DF1C5832C6EC}" type="presParOf" srcId="{03AA1240-1746-42FE-A12B-BD51246F4AF9}" destId="{395AB0E4-6F3E-4CD4-B517-E7271AF2C672}" srcOrd="1" destOrd="0" presId="urn:microsoft.com/office/officeart/2018/2/layout/IconVerticalSolidList"/>
    <dgm:cxn modelId="{4C80D251-AA41-4AD6-A41B-15B8A44291B8}" type="presParOf" srcId="{03AA1240-1746-42FE-A12B-BD51246F4AF9}" destId="{B6C046E3-B294-41F3-8BDB-79810E0E7794}" srcOrd="2" destOrd="0" presId="urn:microsoft.com/office/officeart/2018/2/layout/IconVerticalSolidList"/>
    <dgm:cxn modelId="{03D10D69-DDE5-409D-8968-9B60C22034C5}" type="presParOf" srcId="{B6C046E3-B294-41F3-8BDB-79810E0E7794}" destId="{1C31A5B5-4B8C-41D1-B9E6-0DB80F5C05DA}" srcOrd="0" destOrd="0" presId="urn:microsoft.com/office/officeart/2018/2/layout/IconVerticalSolidList"/>
    <dgm:cxn modelId="{B6EB96FF-BCB9-4A52-A5C6-8AE712FC96A2}" type="presParOf" srcId="{B6C046E3-B294-41F3-8BDB-79810E0E7794}" destId="{83BD66F4-0194-4D37-B98F-FAA2CF32AF7F}" srcOrd="1" destOrd="0" presId="urn:microsoft.com/office/officeart/2018/2/layout/IconVerticalSolidList"/>
    <dgm:cxn modelId="{041EF677-EAA8-4589-8F52-79C7D7C7D0F3}" type="presParOf" srcId="{B6C046E3-B294-41F3-8BDB-79810E0E7794}" destId="{4443A3CD-4117-4285-A167-BB044B9E1769}" srcOrd="2" destOrd="0" presId="urn:microsoft.com/office/officeart/2018/2/layout/IconVerticalSolidList"/>
    <dgm:cxn modelId="{2669C99D-67A0-416D-8C66-56A4A6EFD0B0}" type="presParOf" srcId="{B6C046E3-B294-41F3-8BDB-79810E0E7794}" destId="{6D4E6275-33B8-4703-B611-DA5ACF4E589B}" srcOrd="3" destOrd="0" presId="urn:microsoft.com/office/officeart/2018/2/layout/IconVerticalSolidList"/>
    <dgm:cxn modelId="{80E14DA7-0F6D-4708-A55C-95AC15C97764}" type="presParOf" srcId="{03AA1240-1746-42FE-A12B-BD51246F4AF9}" destId="{D97BEF56-51BA-4C6E-9445-B58B65BD89B4}" srcOrd="3" destOrd="0" presId="urn:microsoft.com/office/officeart/2018/2/layout/IconVerticalSolidList"/>
    <dgm:cxn modelId="{C6938D0A-8A8B-4D0F-A31F-B7433F537065}" type="presParOf" srcId="{03AA1240-1746-42FE-A12B-BD51246F4AF9}" destId="{673DF865-84C6-49DF-B476-D4C29CF010D4}" srcOrd="4" destOrd="0" presId="urn:microsoft.com/office/officeart/2018/2/layout/IconVerticalSolidList"/>
    <dgm:cxn modelId="{267B4FB5-67C2-4A70-A852-58CDE9A3E43F}" type="presParOf" srcId="{673DF865-84C6-49DF-B476-D4C29CF010D4}" destId="{2DDEC279-F085-4B0A-BE1E-A7EE54B6B617}" srcOrd="0" destOrd="0" presId="urn:microsoft.com/office/officeart/2018/2/layout/IconVerticalSolidList"/>
    <dgm:cxn modelId="{C25B8BA8-8F48-437C-BEA9-78888E71B676}" type="presParOf" srcId="{673DF865-84C6-49DF-B476-D4C29CF010D4}" destId="{FE6162AB-0C7C-4457-82FC-5D5DCBEAC37C}" srcOrd="1" destOrd="0" presId="urn:microsoft.com/office/officeart/2018/2/layout/IconVerticalSolidList"/>
    <dgm:cxn modelId="{05361ACC-8F62-4CEB-B7B6-015842E712C6}" type="presParOf" srcId="{673DF865-84C6-49DF-B476-D4C29CF010D4}" destId="{BC1E33D6-04DA-4165-8B9D-B248CAC6F731}" srcOrd="2" destOrd="0" presId="urn:microsoft.com/office/officeart/2018/2/layout/IconVerticalSolidList"/>
    <dgm:cxn modelId="{B87778CD-3D3B-4542-965B-511449A696CB}" type="presParOf" srcId="{673DF865-84C6-49DF-B476-D4C29CF010D4}" destId="{8DB74EBD-3277-4E25-8455-0065EE650159}" srcOrd="3" destOrd="0" presId="urn:microsoft.com/office/officeart/2018/2/layout/IconVerticalSolidList"/>
    <dgm:cxn modelId="{6F2CE312-6DB5-4CAA-A0ED-9FC2FABDCB53}" type="presParOf" srcId="{03AA1240-1746-42FE-A12B-BD51246F4AF9}" destId="{33D54D72-BB7B-4520-83F9-4DB7DA74BFA1}" srcOrd="5" destOrd="0" presId="urn:microsoft.com/office/officeart/2018/2/layout/IconVerticalSolidList"/>
    <dgm:cxn modelId="{A3AA8182-6A9D-409A-83D5-5E826D5278D3}" type="presParOf" srcId="{03AA1240-1746-42FE-A12B-BD51246F4AF9}" destId="{7C1B013C-50BD-4E7C-B541-B510431278C5}" srcOrd="6" destOrd="0" presId="urn:microsoft.com/office/officeart/2018/2/layout/IconVerticalSolidList"/>
    <dgm:cxn modelId="{1017D520-B26C-4AB9-8A32-7BEA2364FCE8}" type="presParOf" srcId="{7C1B013C-50BD-4E7C-B541-B510431278C5}" destId="{AB62C7EC-ED7B-4C0C-A897-9BE1F069FC9E}" srcOrd="0" destOrd="0" presId="urn:microsoft.com/office/officeart/2018/2/layout/IconVerticalSolidList"/>
    <dgm:cxn modelId="{AC75BB83-6835-421C-A04B-36D3DBE3C4C2}" type="presParOf" srcId="{7C1B013C-50BD-4E7C-B541-B510431278C5}" destId="{9F77E45F-75A8-493D-B7C9-335F82D93C7A}" srcOrd="1" destOrd="0" presId="urn:microsoft.com/office/officeart/2018/2/layout/IconVerticalSolidList"/>
    <dgm:cxn modelId="{D4EF49E7-6F0B-4ECD-AD17-6D3D27EB2E02}" type="presParOf" srcId="{7C1B013C-50BD-4E7C-B541-B510431278C5}" destId="{941D51FC-D166-4313-BB18-38CF9F49F523}" srcOrd="2" destOrd="0" presId="urn:microsoft.com/office/officeart/2018/2/layout/IconVerticalSolidList"/>
    <dgm:cxn modelId="{2CCD516B-2F89-4851-9B45-073A524E4A41}" type="presParOf" srcId="{7C1B013C-50BD-4E7C-B541-B510431278C5}" destId="{0D5AE181-56FE-4980-A5D2-F9AFE497548C}" srcOrd="3" destOrd="0" presId="urn:microsoft.com/office/officeart/2018/2/layout/IconVerticalSolidList"/>
    <dgm:cxn modelId="{DD5A4E4A-4921-411A-9C1C-F48B48506F6B}" type="presParOf" srcId="{03AA1240-1746-42FE-A12B-BD51246F4AF9}" destId="{A38E8963-5D85-4AB8-9A19-16FEDC674D34}" srcOrd="7" destOrd="0" presId="urn:microsoft.com/office/officeart/2018/2/layout/IconVerticalSolidList"/>
    <dgm:cxn modelId="{BF04362E-73E7-46B0-A8D3-8B37C0AB366F}" type="presParOf" srcId="{03AA1240-1746-42FE-A12B-BD51246F4AF9}" destId="{707AF197-41BC-4513-A3CF-AE6EAEA24FBB}" srcOrd="8" destOrd="0" presId="urn:microsoft.com/office/officeart/2018/2/layout/IconVerticalSolidList"/>
    <dgm:cxn modelId="{0090DC81-112C-4BF3-833F-B6A1A5DE89B4}" type="presParOf" srcId="{707AF197-41BC-4513-A3CF-AE6EAEA24FBB}" destId="{1623B093-11D6-4CBB-A910-584B180E75E4}" srcOrd="0" destOrd="0" presId="urn:microsoft.com/office/officeart/2018/2/layout/IconVerticalSolidList"/>
    <dgm:cxn modelId="{EC91CF05-D444-4B59-B336-33F37774B60F}" type="presParOf" srcId="{707AF197-41BC-4513-A3CF-AE6EAEA24FBB}" destId="{003E4437-6D61-4875-923E-A3CCECB8EEEE}" srcOrd="1" destOrd="0" presId="urn:microsoft.com/office/officeart/2018/2/layout/IconVerticalSolidList"/>
    <dgm:cxn modelId="{7D5B559B-9B7F-40DF-BB81-9A75A2A31020}" type="presParOf" srcId="{707AF197-41BC-4513-A3CF-AE6EAEA24FBB}" destId="{679757D1-0172-413D-9019-BBC3DCF9BD7D}" srcOrd="2" destOrd="0" presId="urn:microsoft.com/office/officeart/2018/2/layout/IconVerticalSolidList"/>
    <dgm:cxn modelId="{03D598D0-F0D4-4C39-86EA-B7E35D26A8F4}" type="presParOf" srcId="{707AF197-41BC-4513-A3CF-AE6EAEA24FBB}" destId="{D2C49F4B-D79A-4AA5-B1EB-B501FC514EC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344BDB-D1A6-492B-BD03-E0EAF2BBAE98}">
      <dsp:nvSpPr>
        <dsp:cNvPr id="0" name=""/>
        <dsp:cNvSpPr/>
      </dsp:nvSpPr>
      <dsp:spPr>
        <a:xfrm>
          <a:off x="0" y="0"/>
          <a:ext cx="6391275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0A9834-D032-499D-9F0D-BCBC728A0483}">
      <dsp:nvSpPr>
        <dsp:cNvPr id="0" name=""/>
        <dsp:cNvSpPr/>
      </dsp:nvSpPr>
      <dsp:spPr>
        <a:xfrm>
          <a:off x="264107" y="200542"/>
          <a:ext cx="480194" cy="4801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915DA5-E6CD-4BA5-A33B-8F30D2BDF06F}">
      <dsp:nvSpPr>
        <dsp:cNvPr id="0" name=""/>
        <dsp:cNvSpPr/>
      </dsp:nvSpPr>
      <dsp:spPr>
        <a:xfrm>
          <a:off x="1008409" y="4098"/>
          <a:ext cx="5382865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Clean Raw Data</a:t>
          </a:r>
        </a:p>
      </dsp:txBody>
      <dsp:txXfrm>
        <a:off x="1008409" y="4098"/>
        <a:ext cx="5382865" cy="873081"/>
      </dsp:txXfrm>
    </dsp:sp>
    <dsp:sp modelId="{1C31A5B5-4B8C-41D1-B9E6-0DB80F5C05DA}">
      <dsp:nvSpPr>
        <dsp:cNvPr id="0" name=""/>
        <dsp:cNvSpPr/>
      </dsp:nvSpPr>
      <dsp:spPr>
        <a:xfrm>
          <a:off x="0" y="1095450"/>
          <a:ext cx="6391275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BD66F4-0194-4D37-B98F-FAA2CF32AF7F}">
      <dsp:nvSpPr>
        <dsp:cNvPr id="0" name=""/>
        <dsp:cNvSpPr/>
      </dsp:nvSpPr>
      <dsp:spPr>
        <a:xfrm>
          <a:off x="264107" y="1291894"/>
          <a:ext cx="480194" cy="4801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4E6275-33B8-4703-B611-DA5ACF4E589B}">
      <dsp:nvSpPr>
        <dsp:cNvPr id="0" name=""/>
        <dsp:cNvSpPr/>
      </dsp:nvSpPr>
      <dsp:spPr>
        <a:xfrm>
          <a:off x="1008409" y="1095450"/>
          <a:ext cx="5382865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Train Machine Learning Model</a:t>
          </a:r>
        </a:p>
      </dsp:txBody>
      <dsp:txXfrm>
        <a:off x="1008409" y="1095450"/>
        <a:ext cx="5382865" cy="873081"/>
      </dsp:txXfrm>
    </dsp:sp>
    <dsp:sp modelId="{2DDEC279-F085-4B0A-BE1E-A7EE54B6B617}">
      <dsp:nvSpPr>
        <dsp:cNvPr id="0" name=""/>
        <dsp:cNvSpPr/>
      </dsp:nvSpPr>
      <dsp:spPr>
        <a:xfrm>
          <a:off x="0" y="2186802"/>
          <a:ext cx="6391275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6162AB-0C7C-4457-82FC-5D5DCBEAC37C}">
      <dsp:nvSpPr>
        <dsp:cNvPr id="0" name=""/>
        <dsp:cNvSpPr/>
      </dsp:nvSpPr>
      <dsp:spPr>
        <a:xfrm>
          <a:off x="264107" y="2383246"/>
          <a:ext cx="480194" cy="4801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B74EBD-3277-4E25-8455-0065EE650159}">
      <dsp:nvSpPr>
        <dsp:cNvPr id="0" name=""/>
        <dsp:cNvSpPr/>
      </dsp:nvSpPr>
      <dsp:spPr>
        <a:xfrm>
          <a:off x="1008409" y="2186802"/>
          <a:ext cx="5382865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Linear Regression + Random Forest Models</a:t>
          </a:r>
        </a:p>
      </dsp:txBody>
      <dsp:txXfrm>
        <a:off x="1008409" y="2186802"/>
        <a:ext cx="5382865" cy="873081"/>
      </dsp:txXfrm>
    </dsp:sp>
    <dsp:sp modelId="{AB62C7EC-ED7B-4C0C-A897-9BE1F069FC9E}">
      <dsp:nvSpPr>
        <dsp:cNvPr id="0" name=""/>
        <dsp:cNvSpPr/>
      </dsp:nvSpPr>
      <dsp:spPr>
        <a:xfrm>
          <a:off x="0" y="3278154"/>
          <a:ext cx="6391275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77E45F-75A8-493D-B7C9-335F82D93C7A}">
      <dsp:nvSpPr>
        <dsp:cNvPr id="0" name=""/>
        <dsp:cNvSpPr/>
      </dsp:nvSpPr>
      <dsp:spPr>
        <a:xfrm>
          <a:off x="264107" y="3474597"/>
          <a:ext cx="480194" cy="48019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5AE181-56FE-4980-A5D2-F9AFE497548C}">
      <dsp:nvSpPr>
        <dsp:cNvPr id="0" name=""/>
        <dsp:cNvSpPr/>
      </dsp:nvSpPr>
      <dsp:spPr>
        <a:xfrm>
          <a:off x="1008409" y="3278154"/>
          <a:ext cx="5382865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Evaluate Performance Metrics</a:t>
          </a:r>
        </a:p>
      </dsp:txBody>
      <dsp:txXfrm>
        <a:off x="1008409" y="3278154"/>
        <a:ext cx="5382865" cy="873081"/>
      </dsp:txXfrm>
    </dsp:sp>
    <dsp:sp modelId="{1623B093-11D6-4CBB-A910-584B180E75E4}">
      <dsp:nvSpPr>
        <dsp:cNvPr id="0" name=""/>
        <dsp:cNvSpPr/>
      </dsp:nvSpPr>
      <dsp:spPr>
        <a:xfrm>
          <a:off x="0" y="4369506"/>
          <a:ext cx="6391275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3E4437-6D61-4875-923E-A3CCECB8EEEE}">
      <dsp:nvSpPr>
        <dsp:cNvPr id="0" name=""/>
        <dsp:cNvSpPr/>
      </dsp:nvSpPr>
      <dsp:spPr>
        <a:xfrm>
          <a:off x="264107" y="4565949"/>
          <a:ext cx="480194" cy="48019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C49F4B-D79A-4AA5-B1EB-B501FC514ECA}">
      <dsp:nvSpPr>
        <dsp:cNvPr id="0" name=""/>
        <dsp:cNvSpPr/>
      </dsp:nvSpPr>
      <dsp:spPr>
        <a:xfrm>
          <a:off x="1008409" y="4369506"/>
          <a:ext cx="5382865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Predict Energy Generation for 10/24-30</a:t>
          </a:r>
        </a:p>
      </dsp:txBody>
      <dsp:txXfrm>
        <a:off x="1008409" y="4369506"/>
        <a:ext cx="5382865" cy="8730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0EA4B1-83EE-4C02-8624-B9BE2058F92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4DD211-DEC5-4D40-9641-9CAAA8E9C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11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these on notecards. Shorten. Make bigger</a:t>
            </a:r>
          </a:p>
          <a:p>
            <a:r>
              <a:rPr lang="en-US" dirty="0"/>
              <a:t>Not “we”</a:t>
            </a:r>
            <a:br>
              <a:rPr lang="en-US" dirty="0"/>
            </a:br>
            <a:r>
              <a:rPr lang="en-US" dirty="0"/>
              <a:t>I was curious, so …</a:t>
            </a:r>
          </a:p>
          <a:p>
            <a:r>
              <a:rPr lang="en-US" dirty="0"/>
              <a:t>Doesn’t prove anything, but suggests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4DD211-DEC5-4D40-9641-9CAAA8E9CAE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889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Clean up points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4DD211-DEC5-4D40-9641-9CAAA8E9CAE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5501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4DD211-DEC5-4D40-9641-9CAAA8E9CAE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592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8984" y="1792224"/>
            <a:ext cx="990599" cy="304799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fld id="{F9ED8611-6911-42DA-B0E2-713A41713FF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976" y="3227832"/>
            <a:ext cx="3867912" cy="310896"/>
          </a:xfrm>
        </p:spPr>
        <p:txBody>
          <a:bodyPr/>
          <a:lstStyle>
            <a:lvl1pPr>
              <a:defRPr sz="1000" b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9B1A6CDA-8D53-489C-9664-C49812809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786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9"/>
            <a:ext cx="8825659" cy="706964"/>
          </a:xfrm>
          <a:prstGeom prst="rect">
            <a:avLst/>
          </a:prstGeo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D8611-6911-42DA-B0E2-713A41713FF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A6CDA-8D53-489C-9664-C49812809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522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9192"/>
            <a:ext cx="4343400" cy="2286000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3758184" cy="2286000"/>
          </a:xfrm>
        </p:spPr>
        <p:txBody>
          <a:bodyPr anchor="ctr" anchorCtr="0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D8611-6911-42DA-B0E2-713A41713FF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A6CDA-8D53-489C-9664-C49812809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743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8032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76" y="2603500"/>
            <a:ext cx="4828032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D8611-6911-42DA-B0E2-713A41713FF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A6CDA-8D53-489C-9664-C49812809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922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69264"/>
            <a:ext cx="8825659" cy="704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98448"/>
            <a:ext cx="4828032" cy="284378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76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1" y="3187921"/>
            <a:ext cx="4825160" cy="2854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D8611-6911-42DA-B0E2-713A41713FF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A6CDA-8D53-489C-9664-C49812809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564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2144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D8611-6911-42DA-B0E2-713A41713FF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A6CDA-8D53-489C-9664-C49812809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990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D8611-6911-42DA-B0E2-713A41713FF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A6CDA-8D53-489C-9664-C49812809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746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298448"/>
            <a:ext cx="2793159" cy="1597152"/>
          </a:xfrm>
          <a:prstGeom prst="rect">
            <a:avLst/>
          </a:prstGeo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9008" y="1447800"/>
            <a:ext cx="5195997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3" y="3129280"/>
            <a:ext cx="2793159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D8611-6911-42DA-B0E2-713A41713FF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A6CDA-8D53-489C-9664-C49812809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047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D8611-6911-42DA-B0E2-713A41713FF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A6CDA-8D53-489C-9664-C49812809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49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7" y="4969927"/>
            <a:ext cx="8825657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7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D8611-6911-42DA-B0E2-713A41713FF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A6CDA-8D53-489C-9664-C49812809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846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0704"/>
            <a:ext cx="8833104" cy="1371600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2144" y="3547872"/>
            <a:ext cx="8825659" cy="2478024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D8611-6911-42DA-B0E2-713A41713FF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A6CDA-8D53-489C-9664-C49812809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7853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2" name="TextBox 11"/>
          <p:cNvSpPr txBox="1"/>
          <p:nvPr/>
        </p:nvSpPr>
        <p:spPr bwMode="gray">
          <a:xfrm>
            <a:off x="898295" y="59676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 bwMode="gray">
          <a:xfrm>
            <a:off x="9715063" y="2629300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698249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 bwMode="gray">
          <a:xfrm>
            <a:off x="1945945" y="3679987"/>
            <a:ext cx="7725772" cy="34217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400" cap="small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8"/>
            <a:ext cx="8825659" cy="997858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D8611-6911-42DA-B0E2-713A41713FF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A6CDA-8D53-489C-9664-C49812809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692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3525"/>
            <a:ext cx="8865623" cy="1819656"/>
          </a:xfrm>
          <a:prstGeom prst="rect">
            <a:avLst/>
          </a:prstGeo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9200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D8611-6911-42DA-B0E2-713A41713FF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A6CDA-8D53-489C-9664-C49812809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0332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312916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79764"/>
            <a:ext cx="3129168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5380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4"/>
            <a:ext cx="3145380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595032"/>
            <a:ext cx="3161029" cy="58473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79764"/>
            <a:ext cx="3161029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991" y="2603500"/>
            <a:ext cx="32564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5824" y="2603500"/>
            <a:ext cx="0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D8611-6911-42DA-B0E2-713A41713FF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A6CDA-8D53-489C-9664-C49812809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8728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 anchor="ctr" anchorCtr="0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5"/>
            <a:ext cx="3050438" cy="57626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0916"/>
            <a:ext cx="2691242" cy="158409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7"/>
            <a:ext cx="3050438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8"/>
            <a:ext cx="3050438" cy="91257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3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3" y="5109107"/>
            <a:ext cx="3050438" cy="91794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245" y="2603500"/>
            <a:ext cx="1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7352" y="2603500"/>
            <a:ext cx="0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D8611-6911-42DA-B0E2-713A41713FF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A6CDA-8D53-489C-9664-C49812809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3146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595033"/>
            <a:ext cx="8825659" cy="3424768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D8611-6911-42DA-B0E2-713A41713FF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A6CDA-8D53-489C-9664-C49812809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6522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6"/>
            <a:ext cx="1441567" cy="4748591"/>
          </a:xfrm>
          <a:prstGeom prst="rect">
            <a:avLst/>
          </a:prstGeo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5"/>
            <a:ext cx="6256025" cy="47485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D8611-6911-42DA-B0E2-713A41713FF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A6CDA-8D53-489C-9664-C49812809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570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2760" y="6391656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F9ED8611-6911-42DA-B0E2-713A41713FF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7784" y="6391656"/>
            <a:ext cx="3867912" cy="310896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9B1A6CDA-8D53-489C-9664-C49812809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738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  <p:sldLayoutId id="214748374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>
            <a:extLst>
              <a:ext uri="{FF2B5EF4-FFF2-40B4-BE49-F238E27FC236}">
                <a16:creationId xmlns:a16="http://schemas.microsoft.com/office/drawing/2014/main" id="{939176B0-9E51-4AC3-8C61-D682EFAC8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849616-4144-C65B-1065-DCFF00762D3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54" r="-1" b="-1"/>
          <a:stretch>
            <a:fillRect/>
          </a:stretch>
        </p:blipFill>
        <p:spPr>
          <a:xfrm>
            <a:off x="484181" y="503786"/>
            <a:ext cx="11243734" cy="59097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872FB6-C8A1-6EBA-63CB-8D58615E7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4" y="2099733"/>
            <a:ext cx="8827245" cy="2677648"/>
          </a:xfrm>
        </p:spPr>
        <p:txBody>
          <a:bodyPr>
            <a:normAutofit/>
          </a:bodyPr>
          <a:lstStyle/>
          <a:p>
            <a:r>
              <a:rPr lang="en-US" dirty="0"/>
              <a:t>Predicting Hydroelectric Power Generation at Flambeau Station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BD8D9A-46C2-8289-4C1D-B10C11F7DC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4" y="4777380"/>
            <a:ext cx="8827245" cy="861420"/>
          </a:xfrm>
        </p:spPr>
        <p:txBody>
          <a:bodyPr>
            <a:normAutofit/>
          </a:bodyPr>
          <a:lstStyle/>
          <a:p>
            <a:r>
              <a:rPr lang="en-US" sz="1700"/>
              <a:t>Quantitative Analyst Internship Interview – Dairyland Power Cooperative</a:t>
            </a:r>
          </a:p>
          <a:p>
            <a:r>
              <a:rPr lang="en-US" sz="1700"/>
              <a:t>Andrew Peirce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AE9A1F-383B-426C-964E-AA8BB50D6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378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59">
            <a:extLst>
              <a:ext uri="{FF2B5EF4-FFF2-40B4-BE49-F238E27FC236}">
                <a16:creationId xmlns:a16="http://schemas.microsoft.com/office/drawing/2014/main" id="{7F8F1B44-F396-4193-AE11-9D5E5ECAA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8A9B6836-D32C-4F9C-B65B-801023361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587"/>
            <a:ext cx="12192000" cy="6856413"/>
            <a:chOff x="0" y="1587"/>
            <a:chExt cx="12192000" cy="6856413"/>
          </a:xfrm>
        </p:grpSpPr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01FDFCED-E54B-408A-8E95-6140929A8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9CB46B6F-BE17-4645-8EC7-70218D9D1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096550E4-E748-4721-BE84-185E1860BF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6700828" y="402165"/>
              <a:ext cx="5067838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6" name="Freeform 5">
              <a:extLst>
                <a:ext uri="{FF2B5EF4-FFF2-40B4-BE49-F238E27FC236}">
                  <a16:creationId xmlns:a16="http://schemas.microsoft.com/office/drawing/2014/main" id="{D881B11C-8E0B-40B8-A894-9BB9FF2EFD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5305ABBC-C4B0-4260-AE2F-93099262EC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8" name="Freeform 5">
              <a:extLst>
                <a:ext uri="{FF2B5EF4-FFF2-40B4-BE49-F238E27FC236}">
                  <a16:creationId xmlns:a16="http://schemas.microsoft.com/office/drawing/2014/main" id="{000E4B86-B483-499C-9602-46AEEF0B00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478F292-921D-AD84-E2DD-469869E4D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629265"/>
            <a:ext cx="5132438" cy="162232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Exploratory Data Analysis Part 1: Trends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6BA05C-9853-78D1-66DD-C6907161C0FB}"/>
              </a:ext>
            </a:extLst>
          </p:cNvPr>
          <p:cNvSpPr txBox="1"/>
          <p:nvPr/>
        </p:nvSpPr>
        <p:spPr>
          <a:xfrm>
            <a:off x="639098" y="2418735"/>
            <a:ext cx="5780991" cy="38117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800" dirty="0">
                <a:solidFill>
                  <a:schemeClr val="bg1"/>
                </a:solidFill>
              </a:rPr>
              <a:t> Seasonal power generation peaks</a:t>
            </a:r>
          </a:p>
          <a:p>
            <a:pPr lvl="1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Spring snowmelt results in more water; peak in April/May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L</a:t>
            </a:r>
            <a:r>
              <a:rPr lang="en-US" sz="2800" dirty="0">
                <a:solidFill>
                  <a:schemeClr val="bg1"/>
                </a:solidFill>
              </a:rPr>
              <a:t>ows in colder months</a:t>
            </a:r>
          </a:p>
          <a:p>
            <a:pPr lvl="1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Drier, less overall runoff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F3075F69-BD3F-42CD-B3E9-4A817B315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7C67597-4558-7CB4-25F5-E90E8E6462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6780605" y="3520086"/>
            <a:ext cx="4693314" cy="2710389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1D5EA3-B777-0B84-83A3-7841B6D261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14836" y="662157"/>
            <a:ext cx="4828707" cy="267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056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F87C3F1-1E8F-C21E-4D14-9E4C5FC7B0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08810" y="2289568"/>
            <a:ext cx="4342398" cy="4473241"/>
          </a:xfrm>
          <a:prstGeom prst="roundRect">
            <a:avLst>
              <a:gd name="adj" fmla="val 1858"/>
            </a:avLst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8E02DF-27E4-2E29-409A-F3BE8D01B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9"/>
            <a:ext cx="8825659" cy="70696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Exploratory Data Analysis Part 2: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BE253-5E0E-B20F-4EA9-1F545366A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49" y="2603500"/>
            <a:ext cx="3743325" cy="3416300"/>
          </a:xfrm>
        </p:spPr>
        <p:txBody>
          <a:bodyPr anchor="ctr">
            <a:noAutofit/>
          </a:bodyPr>
          <a:lstStyle/>
          <a:p>
            <a:r>
              <a:rPr lang="en-US" sz="2400" dirty="0"/>
              <a:t>River height has strong correlation with power output</a:t>
            </a:r>
          </a:p>
          <a:p>
            <a:pPr lvl="1"/>
            <a:r>
              <a:rPr lang="en-US" sz="2000" dirty="0"/>
              <a:t>More water = more energy (up to a point)</a:t>
            </a:r>
          </a:p>
          <a:p>
            <a:r>
              <a:rPr lang="en-US" sz="2400" dirty="0"/>
              <a:t>Generation slows down when river at ~7 ft, plateaus at ~8 ft</a:t>
            </a:r>
          </a:p>
          <a:p>
            <a:pPr lvl="1"/>
            <a:r>
              <a:rPr lang="en-US" sz="2000" dirty="0"/>
              <a:t>18.96 MW Rated Capacity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BDB9C-D9BD-0975-A93E-F104B4DCAE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" r="65"/>
          <a:stretch/>
        </p:blipFill>
        <p:spPr>
          <a:xfrm>
            <a:off x="8209130" y="3028085"/>
            <a:ext cx="3889084" cy="3325167"/>
          </a:xfrm>
          <a:prstGeom prst="roundRect">
            <a:avLst>
              <a:gd name="adj" fmla="val 1858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3916086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25">
            <a:extLst>
              <a:ext uri="{FF2B5EF4-FFF2-40B4-BE49-F238E27FC236}">
                <a16:creationId xmlns:a16="http://schemas.microsoft.com/office/drawing/2014/main" id="{8682CCCE-534D-4FC6-BF2B-9BEA2F2BB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BC664B74-EEBB-416C-9D86-AE1FECC022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52000483-C30E-42A1-8569-E1DE1F55B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9" name="Freeform 5">
            <a:extLst>
              <a:ext uri="{FF2B5EF4-FFF2-40B4-BE49-F238E27FC236}">
                <a16:creationId xmlns:a16="http://schemas.microsoft.com/office/drawing/2014/main" id="{A5ACD7E0-6D9A-4803-8B9B-D4602DC48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C238E92D-87E7-4B27-AD36-0E133005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5713412" y="402165"/>
            <a:ext cx="6055253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1" name="Freeform 5">
            <a:extLst>
              <a:ext uri="{FF2B5EF4-FFF2-40B4-BE49-F238E27FC236}">
                <a16:creationId xmlns:a16="http://schemas.microsoft.com/office/drawing/2014/main" id="{6D0B958C-B82E-4F4B-945B-6B038D6556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2229377" y="2801721"/>
            <a:ext cx="6053670" cy="1254558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Freeform 5">
            <a:extLst>
              <a:ext uri="{FF2B5EF4-FFF2-40B4-BE49-F238E27FC236}">
                <a16:creationId xmlns:a16="http://schemas.microsoft.com/office/drawing/2014/main" id="{E18F3B2A-BB9B-4FB6-B8A5-2A8E5DB93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02025C-1A2D-A5EA-6C07-9FC7D9050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</a:rPr>
              <a:t>Modeling Approach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C4164AEF-861B-41D1-9ED5-B81051DA7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537C746-4837-09B6-8A09-5E4905C2C8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3373481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37169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D1BC28FB-C7FF-46AD-AB15-4344005CC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4CACC24D-9AE5-4096-AA34-D78DAD696E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FAA3273-7A05-48B4-B142-778B0C6C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46739DB-3852-4D4B-90C5-7A4E965C5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24F02A71-C507-480A-91A9-50523DFA66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3" name="Freeform 5">
              <a:extLst>
                <a:ext uri="{FF2B5EF4-FFF2-40B4-BE49-F238E27FC236}">
                  <a16:creationId xmlns:a16="http://schemas.microsoft.com/office/drawing/2014/main" id="{4FE28C06-4A59-45BD-8B4C-7F622B2A2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2DF644A-5B9C-AEEE-546B-7624A14D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7" y="629265"/>
            <a:ext cx="6130671" cy="605175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dirty="0"/>
              <a:t>Model Performance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11B9062-8A81-436B-8E05-C7607C1EB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05CA46A-CB36-D377-0B4A-BB113B8D1F87}"/>
                  </a:ext>
                </a:extLst>
              </p:cNvPr>
              <p:cNvSpPr txBox="1"/>
              <p:nvPr/>
            </p:nvSpPr>
            <p:spPr>
              <a:xfrm>
                <a:off x="639097" y="1523129"/>
                <a:ext cx="6072776" cy="469598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/>
              <a:p>
                <a:pPr>
                  <a:lnSpc>
                    <a:spcPct val="90000"/>
                  </a:lnSpc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charset="2"/>
                  <a:buChar char=""/>
                </a:pPr>
                <a:r>
                  <a:rPr lang="en-US" sz="2400" dirty="0">
                    <a:solidFill>
                      <a:schemeClr val="bg1"/>
                    </a:solidFill>
                  </a:rPr>
                  <a:t> Linear Regression</a:t>
                </a:r>
              </a:p>
              <a:p>
                <a:pPr lvl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charset="2"/>
                  <a:buChar char=""/>
                </a:pPr>
                <a:r>
                  <a:rPr lang="en-US" sz="2400" dirty="0">
                    <a:solidFill>
                      <a:schemeClr val="bg1"/>
                    </a:solidFill>
                  </a:rPr>
                  <a:t> MAE: 1.5 MW</a:t>
                </a:r>
              </a:p>
              <a:p>
                <a:pPr lvl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charset="2"/>
                  <a:buChar char=""/>
                </a:pPr>
                <a:r>
                  <a:rPr lang="en-US" sz="24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: 81%</a:t>
                </a:r>
              </a:p>
              <a:p>
                <a:pPr>
                  <a:lnSpc>
                    <a:spcPct val="90000"/>
                  </a:lnSpc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charset="2"/>
                  <a:buChar char=""/>
                </a:pPr>
                <a:r>
                  <a:rPr lang="en-US" sz="2400" dirty="0">
                    <a:solidFill>
                      <a:schemeClr val="bg1"/>
                    </a:solidFill>
                  </a:rPr>
                  <a:t> Random Forest</a:t>
                </a:r>
              </a:p>
              <a:p>
                <a:pPr lvl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charset="2"/>
                  <a:buChar char=""/>
                </a:pPr>
                <a:r>
                  <a:rPr lang="en-US" sz="2400" dirty="0">
                    <a:solidFill>
                      <a:schemeClr val="bg1"/>
                    </a:solidFill>
                  </a:rPr>
                  <a:t> MAE: 1.15 MW</a:t>
                </a:r>
              </a:p>
              <a:p>
                <a:pPr lvl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charset="2"/>
                  <a:buChar char=""/>
                </a:pPr>
                <a:r>
                  <a:rPr lang="en-US" sz="2400" dirty="0">
                    <a:solidFill>
                      <a:schemeClr val="bg1"/>
                    </a:solidFill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: 89%; The other 11%:</a:t>
                </a:r>
              </a:p>
              <a:p>
                <a:pPr lvl="2">
                  <a:lnSpc>
                    <a:spcPct val="90000"/>
                  </a:lnSpc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charset="2"/>
                  <a:buChar char=""/>
                </a:pPr>
                <a:r>
                  <a:rPr lang="en-US" sz="2400" dirty="0">
                    <a:solidFill>
                      <a:schemeClr val="bg1"/>
                    </a:solidFill>
                  </a:rPr>
                  <a:t> Dam operations</a:t>
                </a:r>
              </a:p>
              <a:p>
                <a:pPr lvl="2">
                  <a:lnSpc>
                    <a:spcPct val="90000"/>
                  </a:lnSpc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charset="2"/>
                  <a:buChar char=""/>
                </a:pPr>
                <a:r>
                  <a:rPr lang="en-US" sz="2400" dirty="0">
                    <a:solidFill>
                      <a:schemeClr val="bg1"/>
                    </a:solidFill>
                  </a:rPr>
                  <a:t> Additional river conditions</a:t>
                </a:r>
              </a:p>
              <a:p>
                <a:pPr lvl="2">
                  <a:lnSpc>
                    <a:spcPct val="90000"/>
                  </a:lnSpc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Wingdings 3" charset="2"/>
                  <a:buChar char=""/>
                </a:pPr>
                <a:r>
                  <a:rPr lang="en-US" sz="2400" dirty="0">
                    <a:solidFill>
                      <a:schemeClr val="bg1"/>
                    </a:solidFill>
                  </a:rPr>
                  <a:t> Lag effect, etc.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05CA46A-CB36-D377-0B4A-BB113B8D1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097" y="1523129"/>
                <a:ext cx="6072776" cy="4695983"/>
              </a:xfrm>
              <a:prstGeom prst="rect">
                <a:avLst/>
              </a:prstGeom>
              <a:blipFill>
                <a:blip r:embed="rId4"/>
                <a:stretch>
                  <a:fillRect l="-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197375-E8B3-C289-FBD8-687ED38EC5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" b="169"/>
          <a:stretch/>
        </p:blipFill>
        <p:spPr>
          <a:xfrm>
            <a:off x="6136086" y="638887"/>
            <a:ext cx="5444726" cy="558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339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43A114B-CAF8-402E-A898-DEE2C2022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E68BB1-DCF6-49AB-8FF1-7E68DCBC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1412" y="18288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A9B8539-604B-420E-BA1B-0A2E64CD7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1412" y="5870955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66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236CAA2-54C3-4136-B0CC-6837B14D8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40F86E67-9E86-453F-92BC-648189829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3C5439-21D4-46F3-9CF4-FF1CE786F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85FB55-074A-3A59-5A0F-C67330AE1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9187" y="1113063"/>
            <a:ext cx="3733884" cy="28194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Additional Research</a:t>
            </a:r>
          </a:p>
        </p:txBody>
      </p:sp>
      <p:pic>
        <p:nvPicPr>
          <p:cNvPr id="4" name="Content Placeholder 6" descr="A graph with green and white text&#10;&#10;AI-generated content may be incorrect.">
            <a:extLst>
              <a:ext uri="{FF2B5EF4-FFF2-40B4-BE49-F238E27FC236}">
                <a16:creationId xmlns:a16="http://schemas.microsoft.com/office/drawing/2014/main" id="{600A6FBC-7937-5AD6-C9C0-555041B2E3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587" b="2147"/>
          <a:stretch>
            <a:fillRect/>
          </a:stretch>
        </p:blipFill>
        <p:spPr>
          <a:xfrm>
            <a:off x="648929" y="863766"/>
            <a:ext cx="6470907" cy="3997341"/>
          </a:xfrm>
          <a:prstGeom prst="roundRect">
            <a:avLst>
              <a:gd name="adj" fmla="val 1329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0BCFE1-53BB-015E-6589-45B4B0114C8C}"/>
              </a:ext>
            </a:extLst>
          </p:cNvPr>
          <p:cNvSpPr txBox="1"/>
          <p:nvPr/>
        </p:nvSpPr>
        <p:spPr>
          <a:xfrm>
            <a:off x="856592" y="5135176"/>
            <a:ext cx="8655270" cy="1217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400" dirty="0">
                <a:solidFill>
                  <a:schemeClr val="bg1"/>
                </a:solidFill>
              </a:rPr>
              <a:t> Model decided gauge height to be most determinate variable (87%)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400" dirty="0">
                <a:solidFill>
                  <a:schemeClr val="bg1"/>
                </a:solidFill>
              </a:rPr>
              <a:t> Other variables add minor refinements</a:t>
            </a:r>
          </a:p>
        </p:txBody>
      </p:sp>
    </p:spTree>
    <p:extLst>
      <p:ext uri="{BB962C8B-B14F-4D97-AF65-F5344CB8AC3E}">
        <p14:creationId xmlns:p14="http://schemas.microsoft.com/office/powerpoint/2010/main" val="3051726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C43A114B-CAF8-402E-A898-DEE2C2022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4E68BB1-DCF6-49AB-8FF1-7E68DCBC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1412" y="18288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A9B8539-604B-420E-BA1B-0A2E64CD7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1412" y="5870955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66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236CAA2-54C3-4136-B0CC-6837B14D8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40F86E67-9E86-453F-92BC-648189829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73C5439-21D4-46F3-9CF4-FF1CE786F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F32AA-A328-6638-FFDA-483FE7AEF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494" y="544945"/>
            <a:ext cx="9466443" cy="69323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Predictions for Oct 24-30, 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9128BA-A007-0406-BCA4-E694F5111B18}"/>
              </a:ext>
            </a:extLst>
          </p:cNvPr>
          <p:cNvSpPr txBox="1"/>
          <p:nvPr/>
        </p:nvSpPr>
        <p:spPr>
          <a:xfrm>
            <a:off x="8289620" y="1143000"/>
            <a:ext cx="3291192" cy="5088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800" dirty="0">
                <a:solidFill>
                  <a:schemeClr val="bg1"/>
                </a:solidFill>
              </a:rPr>
              <a:t> Ranges from 2.85-3.96 MW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800" dirty="0">
                <a:solidFill>
                  <a:schemeClr val="bg1"/>
                </a:solidFill>
              </a:rPr>
              <a:t> River height forecast remains nearly constant (4.9-5.0 ft)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800" dirty="0">
                <a:solidFill>
                  <a:schemeClr val="bg1"/>
                </a:solidFill>
              </a:rPr>
              <a:t>When gauge height = 4.9-5.1 ft, average generation ≈ 3.8 MW (+/- 0.9 MW)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0FB79D-F3FE-FF12-C3AD-719007C302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" r="475"/>
          <a:stretch/>
        </p:blipFill>
        <p:spPr>
          <a:xfrm>
            <a:off x="790892" y="2213713"/>
            <a:ext cx="7360920" cy="3668757"/>
          </a:xfrm>
          <a:prstGeom prst="roundRect">
            <a:avLst>
              <a:gd name="adj" fmla="val 1329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09621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6AC64B6-5299-4EDC-A5BA-C486DE605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11BA08-D406-4EBC-80F9-8C9B13860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CD848F9-F2DE-446B-8417-F43DDB4366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950ADE9-C1AB-43FC-837A-4805DF5D7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B4A32DB1-B927-4CC4-86F7-62404124F1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D096476B-32CF-4EEC-A4D2-18B931E582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CB300B9C-C1F6-47BC-A43F-3B172CD7F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3474BD5-5CDD-4624-B265-461D5D2FA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64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9C082B5-9FB8-47CC-AE81-E993CEC17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9775A48-EE8C-4715-94E0-D6CC9F99AA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A7DF42E-92EA-43F7-B3B1-AF3704E370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19381BF3-00FA-475A-AF22-25E832179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327A924-89E3-4A90-B5A4-93D47D66C0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3FEF908F-83B8-4DD0-8A1B-F1F735BE92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9C3956E1-F253-4F36-84D5-22D5373F02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68E0CC82-48EE-47B3-8BF4-8C58CF31CE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9E382A3D-2F90-475C-8DF2-F666FEA34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1CAF97-0470-6DC5-0A9C-381829BCD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3171" y="1143000"/>
            <a:ext cx="8825658" cy="338921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dirty="0">
                <a:solidFill>
                  <a:srgbClr val="FFFFFF"/>
                </a:solidFill>
              </a:rPr>
              <a:t>Final Thoughts</a:t>
            </a:r>
            <a:br>
              <a:rPr lang="en-US" sz="6600" dirty="0">
                <a:solidFill>
                  <a:srgbClr val="FFFFFF"/>
                </a:solidFill>
              </a:rPr>
            </a:br>
            <a:r>
              <a:rPr lang="en-US" sz="6600" dirty="0">
                <a:solidFill>
                  <a:srgbClr val="FFFFFF"/>
                </a:solidFill>
              </a:rPr>
              <a:t>&amp;</a:t>
            </a:r>
            <a:br>
              <a:rPr lang="en-US" sz="6600" dirty="0">
                <a:solidFill>
                  <a:srgbClr val="FFFFFF"/>
                </a:solidFill>
              </a:rPr>
            </a:br>
            <a:r>
              <a:rPr lang="en-US" sz="6600" dirty="0">
                <a:solidFill>
                  <a:srgbClr val="FFFFFF"/>
                </a:solidFill>
              </a:rPr>
              <a:t>Reflection</a:t>
            </a:r>
          </a:p>
        </p:txBody>
      </p:sp>
    </p:spTree>
    <p:extLst>
      <p:ext uri="{BB962C8B-B14F-4D97-AF65-F5344CB8AC3E}">
        <p14:creationId xmlns:p14="http://schemas.microsoft.com/office/powerpoint/2010/main" val="40833401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EC7F02AD-9687-440F-A9DF-FAA6F22270D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26E500B4CACCF40B54CA125FD4E15EF" ma:contentTypeVersion="15" ma:contentTypeDescription="Create a new document." ma:contentTypeScope="" ma:versionID="20bdb9e338fae48320468398cbb06a6c">
  <xsd:schema xmlns:xsd="http://www.w3.org/2001/XMLSchema" xmlns:xs="http://www.w3.org/2001/XMLSchema" xmlns:p="http://schemas.microsoft.com/office/2006/metadata/properties" xmlns:ns3="5d2ed38b-080e-4563-b5a6-a9aa8236459a" xmlns:ns4="1aba47d9-e3bd-4aeb-9501-66791acab384" targetNamespace="http://schemas.microsoft.com/office/2006/metadata/properties" ma:root="true" ma:fieldsID="c0193c74204b57d5a572d81fe6785291" ns3:_="" ns4:_="">
    <xsd:import namespace="5d2ed38b-080e-4563-b5a6-a9aa8236459a"/>
    <xsd:import namespace="1aba47d9-e3bd-4aeb-9501-66791acab38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2ed38b-080e-4563-b5a6-a9aa823645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ba47d9-e3bd-4aeb-9501-66791acab38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d2ed38b-080e-4563-b5a6-a9aa8236459a" xsi:nil="true"/>
  </documentManagement>
</p:properties>
</file>

<file path=customXml/itemProps1.xml><?xml version="1.0" encoding="utf-8"?>
<ds:datastoreItem xmlns:ds="http://schemas.openxmlformats.org/officeDocument/2006/customXml" ds:itemID="{73F543FA-E241-4487-BF08-23F407105B2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2ed38b-080e-4563-b5a6-a9aa8236459a"/>
    <ds:schemaRef ds:uri="1aba47d9-e3bd-4aeb-9501-66791acab3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30A75C8-9A61-4296-B5A1-86D62022B4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AA7A111-4EB7-4F0C-BB90-9DE5205804C0}">
  <ds:schemaRefs>
    <ds:schemaRef ds:uri="http://schemas.microsoft.com/office/infopath/2007/PartnerControls"/>
    <ds:schemaRef ds:uri="5d2ed38b-080e-4563-b5a6-a9aa8236459a"/>
    <ds:schemaRef ds:uri="http://www.w3.org/XML/1998/namespace"/>
    <ds:schemaRef ds:uri="http://schemas.microsoft.com/office/2006/documentManagement/types"/>
    <ds:schemaRef ds:uri="1aba47d9-e3bd-4aeb-9501-66791acab384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4923</TotalTime>
  <Words>264</Words>
  <Application>Microsoft Office PowerPoint</Application>
  <PresentationFormat>Widescreen</PresentationFormat>
  <Paragraphs>44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Cambria Math</vt:lpstr>
      <vt:lpstr>Century Gothic</vt:lpstr>
      <vt:lpstr>Wingdings 3</vt:lpstr>
      <vt:lpstr>Ion Boardroom</vt:lpstr>
      <vt:lpstr>Predicting Hydroelectric Power Generation at Flambeau Station</vt:lpstr>
      <vt:lpstr>Exploratory Data Analysis Part 1: Trends</vt:lpstr>
      <vt:lpstr>Exploratory Data Analysis Part 2: Relationships</vt:lpstr>
      <vt:lpstr>Modeling Approach</vt:lpstr>
      <vt:lpstr>Model Performance</vt:lpstr>
      <vt:lpstr>Additional Research</vt:lpstr>
      <vt:lpstr>Predictions for Oct 24-30, 2025</vt:lpstr>
      <vt:lpstr>Final Thoughts &amp; Reflection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Peirce</dc:creator>
  <cp:lastModifiedBy>Andrew Peirce</cp:lastModifiedBy>
  <cp:revision>8</cp:revision>
  <dcterms:created xsi:type="dcterms:W3CDTF">2025-11-04T20:41:04Z</dcterms:created>
  <dcterms:modified xsi:type="dcterms:W3CDTF">2025-11-12T07:19:54Z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0x010100B26E500B4CACCF40B54CA125FD4E15EF</vt:lpwstr>
  </property>
</Properties>
</file>